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4" r:id="rId1"/>
    <p:sldMasterId id="2147484317" r:id="rId2"/>
    <p:sldMasterId id="2147484326" r:id="rId3"/>
    <p:sldMasterId id="2147484315" r:id="rId4"/>
    <p:sldMasterId id="2147484316" r:id="rId5"/>
  </p:sldMasterIdLst>
  <p:notesMasterIdLst>
    <p:notesMasterId r:id="rId33"/>
  </p:notesMasterIdLst>
  <p:handoutMasterIdLst>
    <p:handoutMasterId r:id="rId34"/>
  </p:handoutMasterIdLst>
  <p:sldIdLst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24385588" cy="13717588"/>
  <p:notesSz cx="6858000" cy="9144000"/>
  <p:defaultTextStyle>
    <a:defPPr>
      <a:defRPr lang="ru-RU"/>
    </a:defPPr>
    <a:lvl1pPr marL="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21904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2438092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3657139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4876186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609523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61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APPENDIX" id="{931BC854-6397-194B-8BA4-F30C6897EFB4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71A"/>
    <a:srgbClr val="E1E1E1"/>
    <a:srgbClr val="FFFFFF"/>
    <a:srgbClr val="649FFF"/>
    <a:srgbClr val="F2F2F2"/>
    <a:srgbClr val="FAFAFA"/>
    <a:srgbClr val="242529"/>
    <a:srgbClr val="D1D9E1"/>
    <a:srgbClr val="99CC00"/>
    <a:srgbClr val="EAC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63" autoAdjust="0"/>
    <p:restoredTop sz="86452" autoAdjust="0"/>
  </p:normalViewPr>
  <p:slideViewPr>
    <p:cSldViewPr>
      <p:cViewPr varScale="1">
        <p:scale>
          <a:sx n="62" d="100"/>
          <a:sy n="62" d="100"/>
        </p:scale>
        <p:origin x="95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93008"/>
    </p:cViewPr>
  </p:sorterViewPr>
  <p:notesViewPr>
    <p:cSldViewPr>
      <p:cViewPr varScale="1">
        <p:scale>
          <a:sx n="154" d="100"/>
          <a:sy n="154" d="100"/>
        </p:scale>
        <p:origin x="474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19.02.2026</a:t>
            </a:fld>
            <a:endParaRPr lang="ru-RU" dirty="0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 dirty="0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19.02.2026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1219047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2438092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3657139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4876186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6095230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Gold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FDCE6-B474-8CF4-D30B-BE360312D8D7}"/>
              </a:ext>
            </a:extLst>
          </p:cNvPr>
          <p:cNvSpPr/>
          <p:nvPr userDrawn="1"/>
        </p:nvSpPr>
        <p:spPr>
          <a:xfrm>
            <a:off x="-227806" y="-304006"/>
            <a:ext cx="10210800" cy="1432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40870" y="4496594"/>
            <a:ext cx="3851324" cy="42392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120786" y="4592117"/>
            <a:ext cx="10369152" cy="2693045"/>
          </a:xfrm>
        </p:spPr>
        <p:txBody>
          <a:bodyPr anchor="b" anchorCtr="0"/>
          <a:lstStyle>
            <a:lvl1pPr>
              <a:defRPr b="1" i="0" cap="all" normalizeH="0" baseline="0">
                <a:latin typeface="Public Sans Extra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6" name="Text Placeholder 5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2120786" y="7573194"/>
            <a:ext cx="10369152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886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2" animBg="1"/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ck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7862C1-095B-801D-4A21-040BCDEEF73B}"/>
              </a:ext>
            </a:extLst>
          </p:cNvPr>
          <p:cNvSpPr/>
          <p:nvPr userDrawn="1"/>
        </p:nvSpPr>
        <p:spPr>
          <a:xfrm>
            <a:off x="-314150" y="-304006"/>
            <a:ext cx="10297144" cy="14325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3762" y="4489815"/>
            <a:ext cx="3918523" cy="431319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2120786" y="4572794"/>
            <a:ext cx="10297144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13939" y="7553871"/>
            <a:ext cx="10303991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53594" y="4725194"/>
            <a:ext cx="3918523" cy="4313195"/>
          </a:xfrm>
          <a:prstGeom prst="rect">
            <a:avLst/>
          </a:prstGeom>
        </p:spPr>
      </p:pic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Tw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3533" y="2926599"/>
            <a:ext cx="3918523" cy="4313195"/>
          </a:xfrm>
          <a:prstGeom prst="rect">
            <a:avLst/>
          </a:prstGeom>
        </p:spPr>
      </p:pic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Public Sans ExtraBold" pitchFamily="2" charset="77"/>
                <a:ea typeface="Public Sans ExtraBold" pitchFamily="2" charset="77"/>
                <a:cs typeface="Public Sans ExtraBold" pitchFamily="2" charset="77"/>
              </a:defRPr>
            </a:lvl1pPr>
          </a:lstStyle>
          <a:p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0" i="0" cap="all" baseline="0">
                <a:solidFill>
                  <a:schemeClr val="bg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4089" y="4639497"/>
            <a:ext cx="4032448" cy="4438594"/>
          </a:xfrm>
          <a:prstGeom prst="rect">
            <a:avLst/>
          </a:prstGeom>
        </p:spPr>
      </p:pic>
      <p:sp>
        <p:nvSpPr>
          <p:cNvPr id="8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10680626" y="0"/>
            <a:ext cx="13704962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5334794"/>
            <a:ext cx="10513168" cy="1346522"/>
          </a:xfrm>
        </p:spPr>
        <p:txBody>
          <a:bodyPr anchor="b" anchorCtr="0"/>
          <a:lstStyle>
            <a:lvl1pPr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6969348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solidFill>
                  <a:schemeClr val="bg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4089" y="4639497"/>
            <a:ext cx="4032448" cy="4438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Public Sans ExtraBold" pitchFamily="2" charset="77"/>
                <a:ea typeface="Public Sans ExtraBold" pitchFamily="2" charset="77"/>
                <a:cs typeface="Public Sans ExtraBold" pitchFamily="2" charset="77"/>
              </a:defRPr>
            </a:lvl1pPr>
          </a:lstStyle>
          <a:p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0" i="0" cap="all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76570" y="2826346"/>
            <a:ext cx="4032448" cy="4438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685065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volorit</a:t>
            </a:r>
            <a:r>
              <a:rPr lang="en-US" dirty="0"/>
              <a:t> </a:t>
            </a:r>
            <a:r>
              <a:rPr lang="en-US" dirty="0" err="1"/>
              <a:t>iorem</a:t>
            </a:r>
            <a:r>
              <a:rPr lang="en-US" dirty="0"/>
              <a:t>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6706105" cy="4757713"/>
          </a:xfrm>
        </p:spPr>
        <p:txBody>
          <a:bodyPr numCol="2" spcCol="914400"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 arum </a:t>
            </a:r>
            <a:r>
              <a:rPr lang="en-US" dirty="0" err="1"/>
              <a:t>sapicimus</a:t>
            </a:r>
            <a:r>
              <a:rPr lang="en-US" dirty="0"/>
              <a:t> </a:t>
            </a:r>
            <a:r>
              <a:rPr lang="en-US" dirty="0" err="1"/>
              <a:t>apidi</a:t>
            </a:r>
            <a:r>
              <a:rPr lang="en-US" dirty="0"/>
              <a:t> </a:t>
            </a:r>
            <a:r>
              <a:rPr lang="en-US" dirty="0" err="1"/>
              <a:t>occates</a:t>
            </a:r>
            <a:r>
              <a:rPr lang="en-US" dirty="0"/>
              <a:t> quae ne </a:t>
            </a:r>
            <a:r>
              <a:rPr lang="en-US" dirty="0" err="1"/>
              <a:t>porem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sum quae et et </a:t>
            </a:r>
            <a:r>
              <a:rPr lang="en-US" dirty="0" err="1"/>
              <a:t>libus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et lit </a:t>
            </a:r>
            <a:r>
              <a:rPr lang="en-US" dirty="0" err="1"/>
              <a:t>repra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</a:t>
            </a:r>
            <a:r>
              <a:rPr lang="en-US" dirty="0" err="1"/>
              <a:t>ventios</a:t>
            </a:r>
            <a:r>
              <a:rPr lang="en-US" dirty="0"/>
              <a:t> </a:t>
            </a:r>
            <a:r>
              <a:rPr lang="en-US" dirty="0" err="1"/>
              <a:t>nonsectatio</a:t>
            </a:r>
            <a:r>
              <a:rPr lang="en-US" dirty="0"/>
              <a:t> </a:t>
            </a:r>
            <a:r>
              <a:rPr lang="en-US" dirty="0" err="1"/>
              <a:t>venis</a:t>
            </a:r>
            <a:r>
              <a:rPr lang="en-US" dirty="0"/>
              <a:t> ate non nus.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432599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715794"/>
            <a:ext cx="17066145" cy="5458995"/>
          </a:xfrm>
        </p:spPr>
        <p:txBody>
          <a:bodyPr numCol="3" spcCol="914400"/>
          <a:lstStyle>
            <a:lvl1pPr marL="0" marR="0" indent="0" algn="l" defTabSz="2438462" rtl="0" eaLnBrk="1" fontAlgn="auto" latinLnBrk="0" hangingPunct="1">
              <a:lnSpc>
                <a:spcPts val="4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Ut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5069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flipH="1">
            <a:off x="17821142" y="0"/>
            <a:ext cx="6564449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11256690" y="0"/>
            <a:ext cx="6564449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flipH="1">
            <a:off x="11256690" y="6858794"/>
            <a:ext cx="6564449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8812108" cy="2462213"/>
          </a:xfrm>
        </p:spPr>
        <p:txBody>
          <a:bodyPr/>
          <a:lstStyle>
            <a:lvl1pPr>
              <a:defRPr sz="80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HEADLINE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292455" y="5411004"/>
            <a:ext cx="7948011" cy="4757713"/>
          </a:xfrm>
        </p:spPr>
        <p:txBody>
          <a:bodyPr/>
          <a:lstStyle>
            <a:lvl1pPr marL="0" indent="0">
              <a:buNone/>
              <a:defRPr lang="en-US" sz="3300" b="0" i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2120786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8757243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20786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Public Sans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8757243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292454" y="1057989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1419214" y="6996938"/>
            <a:ext cx="6268502" cy="5262457"/>
          </a:xfrm>
          <a:prstGeom prst="rect">
            <a:avLst/>
          </a:prstGeom>
        </p:spPr>
        <p:txBody>
          <a:bodyPr/>
          <a:lstStyle>
            <a:lvl1pPr>
              <a:defRPr lang="en-US" sz="2200" b="0" i="0" baseline="0" dirty="0">
                <a:solidFill>
                  <a:schemeClr val="tx2"/>
                </a:solidFill>
                <a:latin typeface="Archivo Regular" charset="0"/>
                <a:ea typeface="Archivo Regular" charset="0"/>
                <a:cs typeface="Archivo Regular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Example text</a:t>
            </a:r>
          </a:p>
        </p:txBody>
      </p:sp>
      <p:sp>
        <p:nvSpPr>
          <p:cNvPr id="7" name="Прямоугольник 6"/>
          <p:cNvSpPr/>
          <p:nvPr userDrawn="1"/>
        </p:nvSpPr>
        <p:spPr>
          <a:xfrm rot="10800000" flipH="1">
            <a:off x="0" y="6858794"/>
            <a:ext cx="12192794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rot="10800000" flipH="1">
            <a:off x="12192794" y="6858794"/>
            <a:ext cx="12192794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3776970" y="8154938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3776970" y="1386186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 dirty="0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 rot="10800000">
            <a:off x="0" y="6858794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137175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Archivo Regular" charset="0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700261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3876825" y="1992287"/>
            <a:ext cx="8829368" cy="8778301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smtClean="0">
                <a:solidFill>
                  <a:schemeClr val="bg1"/>
                </a:solidFill>
                <a:effectLst/>
                <a:latin typeface="Public Sans" pitchFamily="2" charset="77"/>
              </a:defRPr>
            </a:lvl1pPr>
          </a:lstStyle>
          <a:p>
            <a:pPr marL="0" marR="0" lvl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ped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Ut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 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ped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Ut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</a:t>
            </a:r>
            <a:r>
              <a:rPr lang="en-US" dirty="0"/>
              <a:t>.</a:t>
            </a:r>
            <a:endParaRPr lang="en-US" dirty="0">
              <a:effectLst/>
              <a:latin typeface="Helvetica" charset="0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 dirty="0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685065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Public Sans" pitchFamily="2" charset="77"/>
              </a:defRPr>
            </a:lvl1pPr>
          </a:lstStyle>
          <a:p>
            <a:r>
              <a:rPr lang="en-US" dirty="0"/>
              <a:t>Click to add text.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 </a:t>
            </a:r>
            <a:r>
              <a:rPr lang="en-US" dirty="0" err="1"/>
              <a:t>volorit</a:t>
            </a:r>
            <a:r>
              <a:rPr lang="en-US" dirty="0"/>
              <a:t> </a:t>
            </a:r>
            <a:r>
              <a:rPr lang="en-US" dirty="0" err="1"/>
              <a:t>iorem</a:t>
            </a:r>
            <a:r>
              <a:rPr lang="en-US" dirty="0"/>
              <a:t>. Bea </a:t>
            </a:r>
            <a:r>
              <a:rPr lang="en-US" dirty="0" err="1"/>
              <a:t>cus</a:t>
            </a:r>
            <a:r>
              <a:rPr lang="en-US" dirty="0"/>
              <a:t> </a:t>
            </a:r>
            <a:r>
              <a:rPr lang="en-US" dirty="0" err="1"/>
              <a:t>eatis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accus</a:t>
            </a:r>
            <a:r>
              <a:rPr lang="en-US" dirty="0"/>
              <a:t>, ne </a:t>
            </a:r>
            <a:r>
              <a:rPr lang="en-US" dirty="0" err="1"/>
              <a:t>molenda</a:t>
            </a:r>
            <a:r>
              <a:rPr lang="en-US" dirty="0"/>
              <a:t> </a:t>
            </a:r>
            <a:r>
              <a:rPr lang="en-US" dirty="0" err="1"/>
              <a:t>invelit</a:t>
            </a:r>
            <a:r>
              <a:rPr lang="en-US" dirty="0"/>
              <a:t> </a:t>
            </a:r>
            <a:r>
              <a:rPr lang="en-US" dirty="0" err="1"/>
              <a:t>iurepudae</a:t>
            </a:r>
            <a:r>
              <a:rPr lang="en-US" dirty="0"/>
              <a:t> </a:t>
            </a:r>
            <a:r>
              <a:rPr lang="en-US" dirty="0" err="1"/>
              <a:t>maximin</a:t>
            </a:r>
            <a:r>
              <a:rPr lang="en-US" dirty="0"/>
              <a:t> </a:t>
            </a:r>
            <a:r>
              <a:rPr lang="en-US" dirty="0" err="1"/>
              <a:t>imagnate</a:t>
            </a:r>
            <a:r>
              <a:rPr lang="en-US" dirty="0"/>
              <a:t> </a:t>
            </a:r>
            <a:r>
              <a:rPr lang="en-US" dirty="0" err="1"/>
              <a:t>officima</a:t>
            </a:r>
            <a:r>
              <a:rPr lang="en-US" dirty="0"/>
              <a:t> </a:t>
            </a:r>
            <a:r>
              <a:rPr lang="en-US" dirty="0" err="1"/>
              <a:t>corruptas</a:t>
            </a:r>
            <a:r>
              <a:rPr lang="en-US" dirty="0"/>
              <a:t> </a:t>
            </a:r>
            <a:r>
              <a:rPr lang="en-US" dirty="0" err="1"/>
              <a:t>simoditam</a:t>
            </a:r>
            <a:r>
              <a:rPr lang="en-US" dirty="0"/>
              <a:t> </a:t>
            </a:r>
            <a:r>
              <a:rPr lang="en-US" dirty="0" err="1"/>
              <a:t>repersp</a:t>
            </a:r>
            <a:r>
              <a:rPr lang="en-US" dirty="0"/>
              <a:t> </a:t>
            </a:r>
            <a:r>
              <a:rPr lang="en-US" dirty="0" err="1"/>
              <a:t>erumenimi</a:t>
            </a:r>
            <a:r>
              <a:rPr lang="en-US" dirty="0"/>
              <a:t>, </a:t>
            </a:r>
            <a:r>
              <a:rPr lang="en-US" dirty="0" err="1"/>
              <a:t>sitate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maio</a:t>
            </a:r>
            <a:r>
              <a:rPr lang="en-US" dirty="0"/>
              <a:t>. </a:t>
            </a:r>
            <a:r>
              <a:rPr lang="en-US" dirty="0" err="1"/>
              <a:t>Incias</a:t>
            </a:r>
            <a:r>
              <a:rPr lang="en-US" dirty="0"/>
              <a:t> et </a:t>
            </a:r>
            <a:r>
              <a:rPr lang="en-US" dirty="0" err="1"/>
              <a:t>volupta</a:t>
            </a:r>
            <a:r>
              <a:rPr lang="en-US" dirty="0"/>
              <a:t> </a:t>
            </a:r>
            <a:r>
              <a:rPr lang="en-US" dirty="0" err="1"/>
              <a:t>ecestet</a:t>
            </a:r>
            <a:r>
              <a:rPr lang="en-US" dirty="0"/>
              <a:t>,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am </a:t>
            </a:r>
            <a:r>
              <a:rPr lang="en-US" dirty="0" err="1"/>
              <a:t>ipic</a:t>
            </a:r>
            <a:r>
              <a:rPr lang="en-US" dirty="0"/>
              <a:t> tempore </a:t>
            </a:r>
            <a:r>
              <a:rPr lang="en-US" dirty="0" err="1"/>
              <a:t>explandam</a:t>
            </a:r>
            <a:r>
              <a:rPr lang="en-US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3902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 hasCustomPrompt="1"/>
          </p:nvPr>
        </p:nvSpPr>
        <p:spPr>
          <a:xfrm>
            <a:off x="0" y="7650882"/>
            <a:ext cx="24385588" cy="1800493"/>
          </a:xfrm>
        </p:spPr>
        <p:txBody>
          <a:bodyPr anchor="b" anchorCtr="0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0" y="9434826"/>
            <a:ext cx="24385588" cy="1107996"/>
          </a:xfrm>
        </p:spPr>
        <p:txBody>
          <a:bodyPr wrap="square">
            <a:spAutoFit/>
          </a:bodyPr>
          <a:lstStyle>
            <a:lvl1pPr algn="ctr"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11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805E5-92ED-E77B-3843-0AFE9CCAAD37}"/>
              </a:ext>
            </a:extLst>
          </p:cNvPr>
          <p:cNvSpPr/>
          <p:nvPr userDrawn="1"/>
        </p:nvSpPr>
        <p:spPr>
          <a:xfrm>
            <a:off x="0" y="0"/>
            <a:ext cx="3251401" cy="13717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6" name="Title Placeholder 7"/>
          <p:cNvSpPr txBox="1">
            <a:spLocks/>
          </p:cNvSpPr>
          <p:nvPr userDrawn="1"/>
        </p:nvSpPr>
        <p:spPr>
          <a:xfrm>
            <a:off x="4919986" y="6138714"/>
            <a:ext cx="18218024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2438462" rtl="0" eaLnBrk="1" latinLnBrk="0" hangingPunct="1">
              <a:spcBef>
                <a:spcPct val="0"/>
              </a:spcBef>
              <a:buNone/>
              <a:defRPr sz="11700" kern="1200">
                <a:solidFill>
                  <a:schemeClr val="tx1"/>
                </a:solidFill>
                <a:latin typeface="Archivo Black" charset="0"/>
                <a:ea typeface="Archivo Black" charset="0"/>
                <a:cs typeface="Archivo Black" charset="0"/>
              </a:defRPr>
            </a:lvl1pPr>
          </a:lstStyle>
          <a:p>
            <a:r>
              <a:rPr lang="en-US" sz="7200" b="1" i="0" dirty="0">
                <a:latin typeface="Public Sans Black" pitchFamily="2" charset="77"/>
              </a:rPr>
              <a:t>CLICK TO EDIT SUB HEADLINE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847978" y="5002842"/>
            <a:ext cx="18218024" cy="18004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B9BC4-451A-52CF-B063-C2831B52D169}"/>
              </a:ext>
            </a:extLst>
          </p:cNvPr>
          <p:cNvSpPr/>
          <p:nvPr userDrawn="1"/>
        </p:nvSpPr>
        <p:spPr>
          <a:xfrm>
            <a:off x="0" y="0"/>
            <a:ext cx="3251401" cy="13717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Dark I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Light I Pattern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0"/>
            <a:ext cx="13716000" cy="13716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Or, drag a photo on to this box.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87798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text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 dirty="0"/>
              <a:t>CLICK TO SUBHEAD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313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83801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9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0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685800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1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85800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35994" y="3276547"/>
            <a:ext cx="8136904" cy="2049792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 dirty="0"/>
              <a:t>CLICK TO SUBHEAD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2341" y="108973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4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572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5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144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7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72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8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144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19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0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4572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1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144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>
            <a:lvl1pPr>
              <a:defRPr b="1" i="0" baseline="0">
                <a:latin typeface="Public Sans ExtraBold" pitchFamily="2" charset="77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  <a:r>
              <a:rPr lang="en-US" dirty="0" err="1"/>
              <a:t>Laborror</a:t>
            </a:r>
            <a:r>
              <a:rPr lang="en-US" dirty="0"/>
              <a:t> </a:t>
            </a:r>
            <a:r>
              <a:rPr lang="en-US" dirty="0" err="1"/>
              <a:t>eculparum</a:t>
            </a:r>
            <a:r>
              <a:rPr lang="en-US" dirty="0"/>
              <a:t> del in pro </a:t>
            </a:r>
            <a:r>
              <a:rPr lang="en-US" dirty="0" err="1"/>
              <a:t>esed</a:t>
            </a:r>
            <a:r>
              <a:rPr lang="en-US" dirty="0"/>
              <a:t> </a:t>
            </a:r>
            <a:r>
              <a:rPr lang="en-US" dirty="0" err="1"/>
              <a:t>entio</a:t>
            </a:r>
            <a:r>
              <a:rPr lang="en-US" dirty="0"/>
              <a:t>. Name </a:t>
            </a:r>
            <a:r>
              <a:rPr lang="en-US" dirty="0" err="1"/>
              <a:t>ped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que </a:t>
            </a:r>
            <a:r>
              <a:rPr lang="en-US" dirty="0" err="1"/>
              <a:t>rehendaepre</a:t>
            </a:r>
            <a:r>
              <a:rPr lang="en-US" dirty="0"/>
              <a:t> </a:t>
            </a:r>
            <a:r>
              <a:rPr lang="en-US" dirty="0" err="1"/>
              <a:t>occus</a:t>
            </a:r>
            <a:r>
              <a:rPr lang="en-US" dirty="0"/>
              <a:t> </a:t>
            </a:r>
            <a:r>
              <a:rPr lang="en-US" dirty="0" err="1"/>
              <a:t>dionem</a:t>
            </a:r>
            <a:r>
              <a:rPr lang="en-US" dirty="0"/>
              <a:t> </a:t>
            </a:r>
            <a:r>
              <a:rPr lang="en-US" dirty="0" err="1"/>
              <a:t>quatecta</a:t>
            </a:r>
            <a:r>
              <a:rPr lang="en-US" dirty="0"/>
              <a:t> qui </a:t>
            </a:r>
            <a:r>
              <a:rPr lang="en-US" dirty="0" err="1"/>
              <a:t>bea</a:t>
            </a:r>
            <a:r>
              <a:rPr lang="en-US" dirty="0"/>
              <a:t> </a:t>
            </a:r>
            <a:r>
              <a:rPr lang="en-US" dirty="0" err="1"/>
              <a:t>voloriassus</a:t>
            </a:r>
            <a:r>
              <a:rPr lang="en-US" dirty="0"/>
              <a:t> </a:t>
            </a:r>
            <a:r>
              <a:rPr lang="en-US" dirty="0" err="1"/>
              <a:t>ilibusa</a:t>
            </a:r>
            <a:r>
              <a:rPr lang="en-US" dirty="0"/>
              <a:t> </a:t>
            </a:r>
            <a:r>
              <a:rPr lang="en-US" dirty="0" err="1"/>
              <a:t>velenecto</a:t>
            </a:r>
            <a:r>
              <a:rPr lang="en-US" dirty="0"/>
              <a:t> </a:t>
            </a:r>
            <a:r>
              <a:rPr lang="en-US" dirty="0" err="1"/>
              <a:t>imus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hariaestiis</a:t>
            </a:r>
            <a:r>
              <a:rPr lang="en-US" dirty="0"/>
              <a:t> </a:t>
            </a:r>
            <a:r>
              <a:rPr lang="en-US" dirty="0" err="1"/>
              <a:t>eosapidunt</a:t>
            </a:r>
            <a:r>
              <a:rPr lang="en-US" dirty="0"/>
              <a:t> quam </a:t>
            </a:r>
            <a:r>
              <a:rPr lang="en-US" dirty="0" err="1"/>
              <a:t>suntiusdae</a:t>
            </a:r>
            <a:r>
              <a:rPr lang="en-US" dirty="0"/>
              <a:t> </a:t>
            </a:r>
            <a:r>
              <a:rPr lang="en-US" dirty="0" err="1"/>
              <a:t>nihicidem</a:t>
            </a:r>
            <a:r>
              <a:rPr lang="en-US" dirty="0"/>
              <a:t> rem. </a:t>
            </a:r>
            <a:r>
              <a:rPr lang="en-US" dirty="0" err="1"/>
              <a:t>Ut</a:t>
            </a:r>
            <a:r>
              <a:rPr lang="en-US" dirty="0"/>
              <a:t> lam, </a:t>
            </a:r>
            <a:r>
              <a:rPr lang="en-US" dirty="0" err="1"/>
              <a:t>odi</a:t>
            </a:r>
            <a:r>
              <a:rPr lang="en-US" dirty="0"/>
              <a:t> id </a:t>
            </a:r>
            <a:r>
              <a:rPr lang="en-US" dirty="0" err="1"/>
              <a:t>ea</a:t>
            </a:r>
            <a:r>
              <a:rPr lang="en-US" dirty="0"/>
              <a:t> sit et </a:t>
            </a:r>
            <a:r>
              <a:rPr lang="en-US" dirty="0" err="1"/>
              <a:t>laut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lique</a:t>
            </a:r>
            <a:r>
              <a:rPr lang="en-US" dirty="0"/>
              <a:t> quid </a:t>
            </a:r>
            <a:r>
              <a:rPr lang="en-US" dirty="0" err="1"/>
              <a:t>modiae</a:t>
            </a:r>
            <a:r>
              <a:rPr lang="en-US" dirty="0"/>
              <a:t> </a:t>
            </a:r>
            <a:r>
              <a:rPr lang="en-US" dirty="0" err="1"/>
              <a:t>endi</a:t>
            </a:r>
            <a:r>
              <a:rPr lang="en-US" dirty="0"/>
              <a:t> </a:t>
            </a:r>
            <a:r>
              <a:rPr lang="en-US" dirty="0" err="1"/>
              <a:t>vitem</a:t>
            </a:r>
            <a:r>
              <a:rPr lang="en-US" dirty="0"/>
              <a:t>.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 dirty="0"/>
              <a:t>CLICK TO SUBHEAD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14982341" y="10844335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 dirty="0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71658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43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5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315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6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887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7" name="Picture Placeholder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459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8" name="Picture Placeholder 5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031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39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43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0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315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1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887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2" name="Picture Placeholder 5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4459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3" name="Picture Placeholder 5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9031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4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743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5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315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6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887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7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4459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  <p:sp>
        <p:nvSpPr>
          <p:cNvPr id="48" name="Picture Placeholder 5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9031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558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3200" b="0" i="0" baseline="0"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r>
              <a:rPr lang="en-US" dirty="0"/>
              <a:t>Click icon to add photo. Or, drag your photo on to this box. </a:t>
            </a:r>
            <a:br>
              <a:rPr lang="en-US" dirty="0"/>
            </a:br>
            <a:r>
              <a:rPr lang="en-US" dirty="0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35560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vert="horz" wrap="none" lIns="0" rIns="0" anchor="t" anchorCtr="0">
            <a:noAutofit/>
          </a:bodyPr>
          <a:lstStyle>
            <a:lvl1pPr marL="0" indent="0" algn="ctr">
              <a:buNone/>
              <a:defRPr sz="9600" b="0" i="0" baseline="0">
                <a:solidFill>
                  <a:schemeClr val="tx1"/>
                </a:solidFill>
                <a:latin typeface="Public Sans" pitchFamily="2" charset="77"/>
                <a:ea typeface="Public Sans" pitchFamily="2" charset="77"/>
                <a:cs typeface="Public Sans" pitchFamily="2" charset="77"/>
              </a:defRPr>
            </a:lvl1pPr>
          </a:lstStyle>
          <a:p>
            <a:pPr marL="914424" marR="0" lvl="0" indent="-914424" algn="l" defTabSz="24384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Icon to add Video</a:t>
            </a:r>
          </a:p>
        </p:txBody>
      </p:sp>
    </p:spTree>
    <p:extLst>
      <p:ext uri="{BB962C8B-B14F-4D97-AF65-F5344CB8AC3E}">
        <p14:creationId xmlns:p14="http://schemas.microsoft.com/office/powerpoint/2010/main" val="167388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955138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tx1"/>
                </a:solidFill>
                <a:latin typeface="Public Sans ExtraBold" pitchFamily="2" charset="77"/>
                <a:ea typeface="Public Sans ExtraBold" pitchFamily="2" charset="77"/>
                <a:cs typeface="Public Sans ExtraBold" pitchFamily="2" charset="77"/>
              </a:defRPr>
            </a:lvl1pPr>
          </a:lstStyle>
          <a:p>
            <a:r>
              <a:rPr lang="en-US" dirty="0"/>
              <a:t>Click to add text</a:t>
            </a:r>
            <a:endParaRPr lang="ru-RU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76570" y="2826346"/>
            <a:ext cx="4032448" cy="4438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9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4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2120786" y="4381773"/>
            <a:ext cx="8428162" cy="269304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12120786" y="7434858"/>
            <a:ext cx="8428162" cy="1800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500"/>
              </a:lnSpc>
              <a:spcBef>
                <a:spcPts val="1000"/>
              </a:spcBef>
              <a:buFont typeface="Arial"/>
              <a:buNone/>
              <a:defRPr sz="6000" b="1" i="0" kern="1200" baseline="0">
                <a:solidFill>
                  <a:schemeClr val="tx1"/>
                </a:solidFill>
                <a:latin typeface="Archivo" charset="0"/>
                <a:ea typeface="Archivo" charset="0"/>
                <a:cs typeface="Archivo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0" i="0" dirty="0">
                <a:latin typeface="Public Sans Medium" pitchFamily="2" charset="77"/>
              </a:rPr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128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2" r:id="rId2"/>
    <p:sldLayoutId id="2147484310" r:id="rId3"/>
    <p:sldLayoutId id="2147484309" r:id="rId4"/>
    <p:sldLayoutId id="2147484348" r:id="rId5"/>
    <p:sldLayoutId id="2147484346" r:id="rId6"/>
    <p:sldLayoutId id="2147484347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ts val="10500"/>
        </a:lnSpc>
        <a:spcBef>
          <a:spcPct val="0"/>
        </a:spcBef>
        <a:buNone/>
        <a:defRPr lang="en-US" sz="9600" b="1" i="0" kern="1200" dirty="0" smtClean="0">
          <a:solidFill>
            <a:schemeClr val="tx1"/>
          </a:solidFill>
          <a:latin typeface="Public Sans Black" pitchFamily="2" charset="77"/>
          <a:ea typeface="Public Sans Black" pitchFamily="2" charset="77"/>
          <a:cs typeface="Public Sans Black" pitchFamily="2" charset="77"/>
        </a:defRPr>
      </a:lvl1pPr>
    </p:titleStyle>
    <p:bodyStyle>
      <a:lvl1pPr marL="0" indent="0" algn="l" defTabSz="914400" rtl="0" eaLnBrk="1" latinLnBrk="0" hangingPunct="1">
        <a:lnSpc>
          <a:spcPts val="6500"/>
        </a:lnSpc>
        <a:spcBef>
          <a:spcPts val="1000"/>
        </a:spcBef>
        <a:buFont typeface="Arial"/>
        <a:buNone/>
        <a:defRPr sz="6000" b="1" kern="1200" baseline="0">
          <a:solidFill>
            <a:schemeClr val="tx1"/>
          </a:solidFill>
          <a:latin typeface="Archivo Black" charset="0"/>
          <a:ea typeface="Archivo Black" charset="0"/>
          <a:cs typeface="Archivo Black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 dirty="0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92454" y="4482530"/>
            <a:ext cx="21032788" cy="46807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39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19" r:id="rId2"/>
    <p:sldLayoutId id="2147484320" r:id="rId3"/>
    <p:sldLayoutId id="2147484322" r:id="rId4"/>
    <p:sldLayoutId id="2147484323" r:id="rId5"/>
    <p:sldLayoutId id="2147484324" r:id="rId6"/>
    <p:sldLayoutId id="2147484349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lnSpc>
          <a:spcPts val="9500"/>
        </a:lnSpc>
        <a:spcBef>
          <a:spcPct val="0"/>
        </a:spcBef>
        <a:buNone/>
        <a:defRPr sz="9000" b="1" i="0" kern="1200" cap="all" baseline="0">
          <a:solidFill>
            <a:schemeClr val="tx1"/>
          </a:solidFill>
          <a:latin typeface="Public Sans ExtraBold" pitchFamily="2" charset="77"/>
          <a:ea typeface="Public Sans ExtraBold" pitchFamily="2" charset="77"/>
          <a:cs typeface="Public Sans ExtraBold" pitchFamily="2" charset="77"/>
        </a:defRPr>
      </a:lvl1pPr>
    </p:titleStyle>
    <p:bodyStyle>
      <a:lvl1pPr marL="457200" indent="-4572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91440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2pPr>
      <a:lvl3pPr marL="146304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3pPr>
      <a:lvl4pPr marL="210312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4pPr>
      <a:lvl5pPr marL="265176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847978" y="5002842"/>
            <a:ext cx="18218024" cy="180049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847978" y="6902926"/>
            <a:ext cx="16691561" cy="11079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SUBHEAD</a:t>
            </a:r>
          </a:p>
        </p:txBody>
      </p:sp>
    </p:spTree>
    <p:extLst>
      <p:ext uri="{BB962C8B-B14F-4D97-AF65-F5344CB8AC3E}">
        <p14:creationId xmlns:p14="http://schemas.microsoft.com/office/powerpoint/2010/main" val="167511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7" r:id="rId1"/>
    <p:sldLayoutId id="2147484328" r:id="rId2"/>
    <p:sldLayoutId id="2147484329" r:id="rId3"/>
    <p:sldLayoutId id="2147484345" r:id="rId4"/>
    <p:sldLayoutId id="2147484344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spcBef>
          <a:spcPct val="0"/>
        </a:spcBef>
        <a:buNone/>
        <a:defRPr sz="11700" b="1" i="0" kern="1200" cap="all" baseline="0">
          <a:solidFill>
            <a:schemeClr val="tx1"/>
          </a:solidFill>
          <a:latin typeface="Public Sans ExtraBold" pitchFamily="2" charset="77"/>
          <a:ea typeface="Public Sans ExtraBold" pitchFamily="2" charset="77"/>
          <a:cs typeface="Public Sans ExtraBold" pitchFamily="2" charset="77"/>
        </a:defRPr>
      </a:lvl1pPr>
    </p:titleStyle>
    <p:bodyStyle>
      <a:lvl1pPr marL="0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200" b="0" i="0" kern="1200" cap="all" baseline="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1219229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5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2pPr>
      <a:lvl3pPr marL="2438461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64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3pPr>
      <a:lvl4pPr marL="365769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4pPr>
      <a:lvl5pPr marL="487692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73114" y="2251651"/>
            <a:ext cx="8473480" cy="30746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73114" y="5687748"/>
            <a:ext cx="8473480" cy="3488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15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307" r:id="rId2"/>
    <p:sldLayoutId id="2147484204" r:id="rId3"/>
    <p:sldLayoutId id="2147484330" r:id="rId4"/>
    <p:sldLayoutId id="2147484331" r:id="rId5"/>
    <p:sldLayoutId id="2147484306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400" b="1" i="0" kern="1200" cap="all" baseline="0">
          <a:solidFill>
            <a:schemeClr val="tx1"/>
          </a:solidFill>
          <a:latin typeface="Public Sans ExtraBold" pitchFamily="2" charset="77"/>
          <a:ea typeface="Public Sans ExtraBold" pitchFamily="2" charset="77"/>
          <a:cs typeface="Public Sans ExtraBold" pitchFamily="2" charset="77"/>
        </a:defRPr>
      </a:lvl1pPr>
    </p:titleStyle>
    <p:bodyStyle>
      <a:lvl1pPr marL="457200" indent="-4572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9144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2pPr>
      <a:lvl3pPr marL="13716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3pPr>
      <a:lvl4pPr marL="18288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4pPr>
      <a:lvl5pPr marL="22860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2788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2788" cy="870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49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0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Public Sans Black" pitchFamily="2" charset="77"/>
          <a:ea typeface="Public Sans Black" pitchFamily="2" charset="77"/>
          <a:cs typeface="Public Sans Black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Public Sans" pitchFamily="2" charset="77"/>
          <a:ea typeface="Public Sans" pitchFamily="2" charset="77"/>
          <a:cs typeface="Public Sa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120786" y="5919317"/>
            <a:ext cx="10297144" cy="1346522"/>
          </a:xfrm>
        </p:spPr>
        <p:txBody>
          <a:bodyPr/>
          <a:lstStyle/>
          <a:p>
            <a:r>
              <a:rPr lang="en-US" dirty="0"/>
              <a:t>Agentic AI in Practice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Lessons from Real-World Use and Evaluation</a:t>
            </a:r>
            <a:br/>
            <a:r>
              <a:rPr lang="en-US" dirty="0"/>
              <a:t>Barrie Robison • AI4RA / RCDS</a:t>
            </a:r>
          </a:p>
        </p:txBody>
      </p:sp>
    </p:spTree>
    <p:extLst>
      <p:ext uri="{BB962C8B-B14F-4D97-AF65-F5344CB8AC3E}">
        <p14:creationId xmlns:p14="http://schemas.microsoft.com/office/powerpoint/2010/main" val="1031416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Context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Connected agent tools to secure on-prem models</a:t>
            </a:r>
          </a:p>
          <a:p>
            <a:r>
              <a:rPr lang="en-US" dirty="0"/>
              <a:t>Built multiple internal AI applications</a:t>
            </a:r>
          </a:p>
          <a:p>
            <a:r>
              <a:rPr lang="en-US" dirty="0"/>
              <a:t>Observed real team reactions</a:t>
            </a:r>
          </a:p>
          <a:p>
            <a:r>
              <a:rPr lang="en-US" dirty="0"/>
              <a:t>Evaluated repo-scale agent collaboration</a:t>
            </a:r>
          </a:p>
          <a:p>
            <a:r>
              <a:rPr lang="en-US" dirty="0"/>
              <a:t>Early institutional exposure to agentic AI in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Immediate Reality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Shadow AI applications are already emerging</a:t>
            </a:r>
          </a:p>
          <a:p>
            <a:r>
              <a:rPr lang="en-US" dirty="0"/>
              <a:t>Rapid experimentation outside governance</a:t>
            </a:r>
          </a:p>
          <a:p>
            <a:r>
              <a:rPr lang="en-US" dirty="0"/>
              <a:t>Fear and uncertainty across technical teams</a:t>
            </a:r>
          </a:p>
          <a:p>
            <a:r>
              <a:rPr lang="en-US" dirty="0"/>
              <a:t>Institutional structures lag the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Institutional Principle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Make the right thing easy, and the wrong thing difficult</a:t>
            </a:r>
          </a:p>
          <a:p>
            <a:r>
              <a:rPr lang="en-US" dirty="0"/>
              <a:t>Provide approved stacks, secure deployment paths, reusable patterns, doc standards</a:t>
            </a:r>
          </a:p>
          <a:p>
            <a:r>
              <a:rPr lang="en-US" dirty="0"/>
              <a:t>Innovation scales within compliance when the environment is designed well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Jobs Are Changing, Not Disappearing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AI doesn’t change WHY roles exist</a:t>
            </a:r>
          </a:p>
          <a:p>
            <a:r>
              <a:rPr lang="en-US" dirty="0"/>
              <a:t>It changes WHAT people do and HOW they do it</a:t>
            </a:r>
          </a:p>
          <a:p>
            <a:r>
              <a:rPr lang="en-US" dirty="0"/>
              <a:t>Applies across dev, research admin, and IT/OIT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Demand Misconception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Fear assumes demand stays constant while productivity rises</a:t>
            </a:r>
          </a:p>
          <a:p>
            <a:r>
              <a:rPr lang="en-US" dirty="0"/>
              <a:t>More likely: app cost ↓, dev speed ↑, experimentation ↑, demand ↑</a:t>
            </a:r>
          </a:p>
          <a:p>
            <a:r>
              <a:rPr lang="en-US" dirty="0"/>
              <a:t>Result: more work — different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as a Mission Force Multiplier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Frame AI as amplifying mission outcomes</a:t>
            </a:r>
          </a:p>
          <a:p>
            <a:r>
              <a:rPr lang="en-US" dirty="0"/>
              <a:t>Research productivity, administrative capacity, innovation throughput</a:t>
            </a:r>
          </a:p>
          <a:p>
            <a:r>
              <a:rPr lang="en-US" dirty="0"/>
              <a:t>Institutional intelligence and faster iteration loops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 Not Automate Broken Workflows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Don’t ask: “How can we make this workflow faster?”</a:t>
            </a:r>
          </a:p>
          <a:p>
            <a:r>
              <a:rPr lang="en-US" dirty="0"/>
              <a:t>Ask: “Why does this workflow exist, and how should it work?”</a:t>
            </a:r>
          </a:p>
          <a:p>
            <a:r>
              <a:rPr lang="en-US" dirty="0"/>
              <a:t>Agentic AI rewards redesign over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Greenfield vs Brownfield AI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Greenfield: AI-native systems, clean APIs, high autonomy</a:t>
            </a:r>
          </a:p>
          <a:p>
            <a:r>
              <a:rPr lang="en-US" dirty="0"/>
              <a:t>Brownfield: legacy integration, adapters/RPA, high friction</a:t>
            </a:r>
          </a:p>
          <a:p>
            <a:r>
              <a:rPr lang="en-US" dirty="0"/>
              <a:t>Most universities operate in brownfield reality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Start Small, Then Expand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Begin with a small ecosystem and trusted stack</a:t>
            </a:r>
          </a:p>
          <a:p>
            <a:r>
              <a:rPr lang="en-US" dirty="0"/>
              <a:t>Establish safe patterns and governance</a:t>
            </a:r>
          </a:p>
          <a:p>
            <a:r>
              <a:rPr lang="en-US" dirty="0"/>
              <a:t>Demonstrate value, then scale outward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Agent Orchestrator Role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Systems thinker with broad generalist understanding</a:t>
            </a:r>
          </a:p>
          <a:p>
            <a:r>
              <a:rPr lang="en-US" dirty="0"/>
              <a:t>Decomposes processes and explains workflows clearly</a:t>
            </a:r>
          </a:p>
          <a:p>
            <a:r>
              <a:rPr lang="en-US" dirty="0"/>
              <a:t>Bridges domain experts, infrastructure, and agents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Guidelines for Agents, Not Just Humans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Preferred stacks by project type</a:t>
            </a:r>
          </a:p>
          <a:p>
            <a:r>
              <a:rPr lang="en-US" dirty="0"/>
              <a:t>Security, deployment, documentation patterns</a:t>
            </a:r>
          </a:p>
          <a:p>
            <a:r>
              <a:rPr lang="en-US" dirty="0"/>
              <a:t>Data access conventions and reusable primitives</a:t>
            </a:r>
          </a:p>
          <a:p>
            <a:r>
              <a:rPr lang="en-US" dirty="0"/>
              <a:t>Guidelines should guide agents as much as people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 Lesson: Multi-Agent Coordination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Define scope boundaries and conflict prevention</a:t>
            </a:r>
          </a:p>
          <a:p>
            <a:r>
              <a:rPr lang="en-US" dirty="0"/>
              <a:t>Create a skill registry and output contracts</a:t>
            </a:r>
          </a:p>
          <a:p>
            <a:r>
              <a:rPr lang="en-US" dirty="0"/>
              <a:t>Establish escalation and handoff protocols</a:t>
            </a:r>
          </a:p>
          <a:p>
            <a:r>
              <a:rPr lang="en-US" dirty="0"/>
              <a:t>Single-agent assumptions break quickly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 Lesson: Explicit Agent Rules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Separate background context from normative MUST rules</a:t>
            </a:r>
          </a:p>
          <a:p>
            <a:r>
              <a:rPr lang="en-US" dirty="0"/>
              <a:t>Naming conventions, checks before commit, terminology, branching</a:t>
            </a:r>
          </a:p>
          <a:p>
            <a:r>
              <a:rPr lang="en-US" dirty="0"/>
              <a:t>Rules reduce drift across agents and collaborators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 Lesson: Preserve Architectural Intent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Capture “why” via Architecture Decision Records (ADRs)</a:t>
            </a:r>
          </a:p>
          <a:p>
            <a:r>
              <a:rPr lang="en-US" dirty="0"/>
              <a:t>Prevents accidental “fixes” of intentional patterns</a:t>
            </a:r>
          </a:p>
          <a:p>
            <a:r>
              <a:rPr lang="en-US" dirty="0"/>
              <a:t>Enables consistent evolution and onboarding for agents/humans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Implication: SaaS Pressure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As custom tool creation accelerates, SaaS value shifts</a:t>
            </a:r>
          </a:p>
          <a:p>
            <a:r>
              <a:rPr lang="en-US" dirty="0"/>
              <a:t>Vendors must improve dramatically or reduce prices</a:t>
            </a:r>
          </a:p>
          <a:p>
            <a:r>
              <a:rPr lang="en-US" dirty="0"/>
              <a:t>Institutions gain leverage in contract negotiations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Most People Are Thinking Too Small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This isn’t just automation — it’s capability expansion</a:t>
            </a:r>
          </a:p>
          <a:p>
            <a:r>
              <a:rPr lang="en-US" dirty="0"/>
              <a:t>Solution proliferation and rapid experimentation</a:t>
            </a:r>
          </a:p>
          <a:p>
            <a:r>
              <a:rPr lang="en-US" dirty="0"/>
              <a:t>Research amplification effects are enormous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Strategic Takeaways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AI is a force multiplier, not a job replacer</a:t>
            </a:r>
          </a:p>
          <a:p>
            <a:r>
              <a:rPr lang="en-US" dirty="0"/>
              <a:t>Demand for tools will increase</a:t>
            </a:r>
          </a:p>
          <a:p>
            <a:r>
              <a:rPr lang="en-US" dirty="0"/>
              <a:t>Redesign workflows; don’t automate broken ones</a:t>
            </a:r>
          </a:p>
          <a:p>
            <a:r>
              <a:rPr lang="en-US" dirty="0"/>
              <a:t>Agent orchestration is a new institutional role</a:t>
            </a:r>
          </a:p>
          <a:p>
            <a:r>
              <a:rPr lang="en-US" dirty="0"/>
              <a:t>Start small and scale safely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Institutional Question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Not: “Should we adopt AI?”</a:t>
            </a:r>
          </a:p>
          <a:p>
            <a:r>
              <a:rPr lang="en-US" dirty="0"/>
              <a:t>But: “How do we design an institution where agents safely amplify our mission?”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Closing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Agentic AI changes who builds tools, how they’re built, and how many exist</a:t>
            </a:r>
          </a:p>
          <a:p>
            <a:r>
              <a:rPr lang="en-US" dirty="0"/>
              <a:t>Treat this as research and mission amplification infrastructure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4919986" y="6138714"/>
            <a:ext cx="18218024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sz="7200" b="1" dirty="0">
                <a:latin typeface="Public Sans Black" pitchFamily="2" charset="77"/>
              </a:rPr>
              <a:t>Development Activity Report</a:t>
            </a:r>
          </a:p>
        </p:txBody>
      </p:sp>
      <p:sp>
        <p:nvSpPr>
          <p:cNvPr id="10" name="Text Placeholder 3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February 1–19, 2026  •  Agentic Development with Claude Code  •  Prepared by Luke Sheneman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300000" y="600000"/>
            <a:ext cx="21800000" cy="1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4400" b="1" dirty="0">
                <a:solidFill>
                  <a:srgbClr val="F1B300"/>
                </a:solidFill>
                <a:latin typeface="Archivo Black"/>
              </a:rPr>
              <a:t>APPENDIX: KEY METRICS AT A GLANCE</a:t>
            </a:r>
          </a:p>
        </p:txBody>
      </p:sp>
      <p:sp>
        <p:nvSpPr>
          <p:cNvPr id="100" name="Box1"/>
          <p:cNvSpPr/>
          <p:nvPr/>
        </p:nvSpPr>
        <p:spPr>
          <a:xfrm>
            <a:off x="1300000" y="2200000"/>
            <a:ext cx="6800000" cy="4200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txBody>
          <a:bodyPr wrap="square" lIns="360000" tIns="360000" rIns="360000" bIns="36000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248</a:t>
            </a:r>
          </a:p>
          <a:p>
            <a:pPr algn="ctr"/>
            <a:r>
              <a:rPr lang="en-US" sz="2400" dirty="0">
                <a:solidFill>
                  <a:srgbClr val="F1B300"/>
                </a:solidFill>
              </a:rPr>
              <a:t>Total Commits</a:t>
            </a:r>
          </a:p>
        </p:txBody>
      </p:sp>
      <p:sp>
        <p:nvSpPr>
          <p:cNvPr id="101" name="Box2"/>
          <p:cNvSpPr/>
          <p:nvPr/>
        </p:nvSpPr>
        <p:spPr>
          <a:xfrm>
            <a:off x="8500000" y="2200000"/>
            <a:ext cx="6800000" cy="4200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txBody>
          <a:bodyPr wrap="square" lIns="360000" tIns="360000" rIns="360000" bIns="36000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142,095</a:t>
            </a:r>
          </a:p>
          <a:p>
            <a:pPr algn="ctr"/>
            <a:r>
              <a:rPr lang="en-US" sz="2400" dirty="0">
                <a:solidFill>
                  <a:srgbClr val="F1B300"/>
                </a:solidFill>
              </a:rPr>
              <a:t>Net New Lines of Code</a:t>
            </a:r>
          </a:p>
        </p:txBody>
      </p:sp>
      <p:sp>
        <p:nvSpPr>
          <p:cNvPr id="102" name="Box3"/>
          <p:cNvSpPr/>
          <p:nvPr/>
        </p:nvSpPr>
        <p:spPr>
          <a:xfrm>
            <a:off x="15700000" y="2200000"/>
            <a:ext cx="6800000" cy="4200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txBody>
          <a:bodyPr wrap="square" lIns="360000" tIns="360000" rIns="360000" bIns="36000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878</a:t>
            </a:r>
          </a:p>
          <a:p>
            <a:pPr algn="ctr"/>
            <a:r>
              <a:rPr lang="en-US" sz="2400" dirty="0">
                <a:solidFill>
                  <a:srgbClr val="F1B300"/>
                </a:solidFill>
              </a:rPr>
              <a:t>Unique Files Modified</a:t>
            </a:r>
          </a:p>
        </p:txBody>
      </p:sp>
      <p:sp>
        <p:nvSpPr>
          <p:cNvPr id="103" name="Box4"/>
          <p:cNvSpPr/>
          <p:nvPr/>
        </p:nvSpPr>
        <p:spPr>
          <a:xfrm>
            <a:off x="1300000" y="6800000"/>
            <a:ext cx="6800000" cy="4200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txBody>
          <a:bodyPr wrap="square" lIns="360000" tIns="360000" rIns="360000" bIns="36000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7</a:t>
            </a:r>
          </a:p>
          <a:p>
            <a:pPr algn="ctr"/>
            <a:r>
              <a:rPr lang="en-US" sz="2400" dirty="0">
                <a:solidFill>
                  <a:srgbClr val="F1B300"/>
                </a:solidFill>
              </a:rPr>
              <a:t>Active Repositories</a:t>
            </a:r>
          </a:p>
        </p:txBody>
      </p:sp>
      <p:sp>
        <p:nvSpPr>
          <p:cNvPr id="104" name="Box5"/>
          <p:cNvSpPr/>
          <p:nvPr/>
        </p:nvSpPr>
        <p:spPr>
          <a:xfrm>
            <a:off x="8500000" y="6800000"/>
            <a:ext cx="6800000" cy="4200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txBody>
          <a:bodyPr wrap="square" lIns="360000" tIns="360000" rIns="360000" bIns="36000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48</a:t>
            </a:r>
          </a:p>
          <a:p>
            <a:pPr algn="ctr"/>
            <a:r>
              <a:rPr lang="en-US" sz="2400" dirty="0">
                <a:solidFill>
                  <a:srgbClr val="F1B300"/>
                </a:solidFill>
              </a:rPr>
              <a:t>Pull Requests</a:t>
            </a:r>
          </a:p>
        </p:txBody>
      </p:sp>
      <p:sp>
        <p:nvSpPr>
          <p:cNvPr id="105" name="Box6"/>
          <p:cNvSpPr/>
          <p:nvPr/>
        </p:nvSpPr>
        <p:spPr>
          <a:xfrm>
            <a:off x="15700000" y="6800000"/>
            <a:ext cx="6800000" cy="4200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</p:spPr>
        <p:txBody>
          <a:bodyPr wrap="square" lIns="360000" tIns="360000" rIns="360000" bIns="360000" anchor="ctr"/>
          <a:lstStyle/>
          <a:p>
            <a:pPr algn="ctr"/>
            <a:r>
              <a:rPr lang="en-US" sz="7200" b="1" dirty="0">
                <a:solidFill>
                  <a:srgbClr val="FFFFFF"/>
                </a:solidFill>
              </a:rPr>
              <a:t>90</a:t>
            </a:r>
          </a:p>
          <a:p>
            <a:pPr algn="ctr"/>
            <a:r>
              <a:rPr lang="en-US" sz="2400" dirty="0">
                <a:solidFill>
                  <a:srgbClr val="F1B300"/>
                </a:solidFill>
              </a:rPr>
              <a:t>Issues Tracked</a:t>
            </a:r>
          </a:p>
        </p:txBody>
      </p:sp>
      <p:sp>
        <p:nvSpPr>
          <p:cNvPr id="106" name="Footer"/>
          <p:cNvSpPr txBox="1"/>
          <p:nvPr/>
        </p:nvSpPr>
        <p:spPr>
          <a:xfrm>
            <a:off x="1300000" y="11400000"/>
            <a:ext cx="21200000" cy="1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2000" i="1" dirty="0">
                <a:solidFill>
                  <a:srgbClr val="666666"/>
                </a:solidFill>
              </a:rPr>
              <a:t>19 calendar days  •  3 contributors  •  ~13 commits/day  •  ~7,500 net lines/day</a:t>
            </a:r>
          </a:p>
          <a:p>
            <a:pPr algn="ctr"/>
            <a:r>
              <a:rPr lang="en-US" sz="1800" i="1" dirty="0">
                <a:solidFill>
                  <a:srgbClr val="999999"/>
                </a:solidFill>
              </a:rPr>
              <a:t>Spanning ML/AI, full-stack web, DevOps, and research tools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Repository Summary</a:t>
            </a: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4919986" y="6138714"/>
            <a:ext cx="18218024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sz="7200" b="1" dirty="0">
                <a:latin typeface="Public Sans Black" pitchFamily="2" charset="77"/>
              </a:rPr>
              <a:t>7 Repositories • 142,095 Lines • 19 Days</a:t>
            </a:r>
          </a:p>
        </p:txBody>
      </p:sp>
      <p:sp>
        <p:nvSpPr>
          <p:cNvPr id="10" name="Text Placeholder 3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VERASUnlimited • mindrouter2 • proposalforge • skillbag • dissertation • CerealPestAID • WildVE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10–15x</a:t>
            </a: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4919986" y="6138714"/>
            <a:ext cx="18218024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sz="7200" b="1" dirty="0">
                <a:latin typeface="Public Sans Black" pitchFamily="2" charset="77"/>
              </a:rPr>
              <a:t>Productivity Multiplier</a:t>
            </a:r>
          </a:p>
        </p:txBody>
      </p:sp>
      <p:sp>
        <p:nvSpPr>
          <p:cNvPr id="10" name="Text Placeholder 3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Estimated manual: 6–9 months  •  Actual: 19 days, 2–3 contributors with agentic 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000000"/>
            <a:ext cx="21385588" cy="117175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000000"/>
            <a:ext cx="21385588" cy="117175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200000" y="400000"/>
            <a:ext cx="21800000" cy="12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r>
              <a:rPr lang="en-US" sz="4000" b="1" dirty="0">
                <a:solidFill>
                  <a:srgbClr val="F1B300"/>
                </a:solidFill>
                <a:latin typeface="Archivo Black"/>
              </a:rPr>
              <a:t>Appendix: Per-Project Effort Estimates</a:t>
            </a:r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95694"/>
              </p:ext>
            </p:extLst>
          </p:nvPr>
        </p:nvGraphicFramePr>
        <p:xfrm>
          <a:off x="1200000" y="1800000"/>
          <a:ext cx="21584593" cy="6389856"/>
        </p:xfrm>
        <a:graphic>
          <a:graphicData uri="http://schemas.openxmlformats.org/drawingml/2006/table">
            <a:tbl>
              <a:tblPr firstRow="1" bandRow="1"/>
              <a:tblGrid>
                <a:gridCol w="5188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4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3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7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7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943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062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Repository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Days Active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Net New Lines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Low Estimate @ 150 lines/day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High Estimate @ 100 lines/day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FFFFF"/>
                          </a:solidFill>
                        </a:rPr>
                        <a:t>Multiplier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VERASUnlimited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81,344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542 days (24.7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813 days (37.0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90-136x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mindrouter2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27,132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181 days (8.2 mo)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271 days (12.3 mo)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11-16x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proposalforge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17,163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114 days (5.2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172 days (7.8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114-172x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skillbag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7,833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52 days (2.4 mo)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78 days (3.5 mo)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17-26x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dissertation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5,107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34 days (1.5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51 days (2.3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34-51x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CerealPestAID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1,984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13 days (0.6 mo)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20 days (0.9 mo)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13-20x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WildVE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1,532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10 days (0.5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0000"/>
                          </a:solidFill>
                        </a:rPr>
                        <a:t>15 days (0.7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000000"/>
                          </a:solidFill>
                        </a:rPr>
                        <a:t>3-5x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062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solidFill>
                            <a:srgbClr val="F1B300"/>
                          </a:solidFill>
                        </a:rPr>
                        <a:t>TOTALS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1B300"/>
                          </a:solidFill>
                        </a:rPr>
                        <a:t>19*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1B300"/>
                          </a:solidFill>
                        </a:rPr>
                        <a:t>142,095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1B300"/>
                          </a:solidFill>
                        </a:rPr>
                        <a:t>947 days (3.6 yr)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1B300"/>
                          </a:solidFill>
                        </a:rPr>
                        <a:t>1,421 days (5.4 yr)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F1B300"/>
                          </a:solidFill>
                        </a:rPr>
                        <a:t>50-75x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1200000" y="11800000"/>
            <a:ext cx="21800000" cy="8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dirty="0">
                <a:solidFill>
                  <a:srgbClr val="808080"/>
                </a:solidFill>
              </a:rPr>
              <a:t>*Total reporting period. Days Active = first commit to last commit (inclusive). Multiplier = Low/High estimate ÷ Days Active. Working days at 22/month.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-template_16x9_NEW" id="{A2395FBF-25A9-3041-91DF-8046167F6345}" vid="{931C19B3-F744-2F46-8668-1DF78ECF4906}"/>
    </a:ext>
  </a:extLst>
</a:theme>
</file>

<file path=ppt/theme/theme2.xml><?xml version="1.0" encoding="utf-8"?>
<a:theme xmlns:a="http://schemas.openxmlformats.org/drawingml/2006/main" name="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-template_16x9_NEW" id="{A2395FBF-25A9-3041-91DF-8046167F6345}" vid="{C0806AD7-033C-F943-883D-5B9164DDFC12}"/>
    </a:ext>
  </a:extLst>
</a:theme>
</file>

<file path=ppt/theme/theme3.xml><?xml version="1.0" encoding="utf-8"?>
<a:theme xmlns:a="http://schemas.openxmlformats.org/drawingml/2006/main" name="Section Intro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Другая 5">
      <a:majorFont>
        <a:latin typeface="Source Serif Pro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-template_16x9_NEW" id="{A2395FBF-25A9-3041-91DF-8046167F6345}" vid="{82E975F8-D410-B448-90A0-D7FD5342312D}"/>
    </a:ext>
  </a:extLst>
</a:theme>
</file>

<file path=ppt/theme/theme4.xml><?xml version="1.0" encoding="utf-8"?>
<a:theme xmlns:a="http://schemas.openxmlformats.org/drawingml/2006/main" name="U of I Media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-template_16x9_NEW" id="{A2395FBF-25A9-3041-91DF-8046167F6345}" vid="{C2986D36-1F32-D946-90DC-89E9BFF3A4C1}"/>
    </a:ext>
  </a:extLst>
</a:theme>
</file>

<file path=ppt/theme/theme5.xml><?xml version="1.0" encoding="utf-8"?>
<a:theme xmlns:a="http://schemas.openxmlformats.org/drawingml/2006/main" name="Closing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i-template_16x9_NEW" id="{A2395FBF-25A9-3041-91DF-8046167F6345}" vid="{F5567F14-0A73-EF43-A152-01A7FEECD820}"/>
    </a:ext>
  </a:extLst>
</a:theme>
</file>

<file path=ppt/theme/theme6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 Slides</Template>
  <TotalTime>133</TotalTime>
  <Words>888</Words>
  <Application>Microsoft Macintosh PowerPoint</Application>
  <PresentationFormat>Custom</PresentationFormat>
  <Paragraphs>163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Archivo</vt:lpstr>
      <vt:lpstr>Archivo Black</vt:lpstr>
      <vt:lpstr>Archivo Regular</vt:lpstr>
      <vt:lpstr>Arial</vt:lpstr>
      <vt:lpstr>Helvetica</vt:lpstr>
      <vt:lpstr>Public Sans</vt:lpstr>
      <vt:lpstr>Public Sans Black</vt:lpstr>
      <vt:lpstr>Public Sans ExtraBold</vt:lpstr>
      <vt:lpstr>Public Sans Medium</vt:lpstr>
      <vt:lpstr>Wingdings</vt:lpstr>
      <vt:lpstr>Title Slides</vt:lpstr>
      <vt:lpstr>Text Slides</vt:lpstr>
      <vt:lpstr>Section Intro Slides</vt:lpstr>
      <vt:lpstr>U of I Media Slides</vt:lpstr>
      <vt:lpstr>Closing Slides</vt:lpstr>
      <vt:lpstr>Agentic AI in Practice</vt:lpstr>
      <vt:lpstr>Context</vt:lpstr>
      <vt:lpstr>Immediate Reality</vt:lpstr>
      <vt:lpstr>Core Institutional Principle</vt:lpstr>
      <vt:lpstr>Jobs Are Changing, Not Disappearing</vt:lpstr>
      <vt:lpstr>The Demand Misconception</vt:lpstr>
      <vt:lpstr>AI as a Mission Force Multiplier</vt:lpstr>
      <vt:lpstr>Do Not Automate Broken Workflows</vt:lpstr>
      <vt:lpstr>Greenfield vs Brownfield AI</vt:lpstr>
      <vt:lpstr>Start Small, Then Expand</vt:lpstr>
      <vt:lpstr>The Agent Orchestrator Role</vt:lpstr>
      <vt:lpstr>Guidelines for Agents, Not Just Humans</vt:lpstr>
      <vt:lpstr>Repo Lesson: Multi-Agent Coordination</vt:lpstr>
      <vt:lpstr>Repo Lesson: Explicit Agent Rules</vt:lpstr>
      <vt:lpstr>Repo Lesson: Preserve Architectural Intent</vt:lpstr>
      <vt:lpstr>Market Implication: SaaS Pressure</vt:lpstr>
      <vt:lpstr>Most People Are Thinking Too Small</vt:lpstr>
      <vt:lpstr>Strategic Takeaways</vt:lpstr>
      <vt:lpstr>Institutional Question</vt:lpstr>
      <vt:lpstr>Closing</vt:lpstr>
      <vt:lpstr>APPENDIX</vt:lpstr>
      <vt:lpstr>PowerPoint Presentation</vt:lpstr>
      <vt:lpstr>Appendix: Repository Summary</vt:lpstr>
      <vt:lpstr>10–15x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Scharbach, Karla (kscharbach@uidaho.edu)</dc:creator>
  <cp:lastModifiedBy>Robison, Barrie (brobison@uidaho.edu)</cp:lastModifiedBy>
  <cp:revision>9</cp:revision>
  <dcterms:created xsi:type="dcterms:W3CDTF">2023-11-21T19:08:09Z</dcterms:created>
  <dcterms:modified xsi:type="dcterms:W3CDTF">2026-02-20T00:41:33Z</dcterms:modified>
</cp:coreProperties>
</file>